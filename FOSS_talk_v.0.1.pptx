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3" r:id="rId3"/>
    <p:sldId id="2564" r:id="rId4"/>
    <p:sldId id="2565" r:id="rId5"/>
    <p:sldId id="2566" r:id="rId6"/>
    <p:sldId id="2567" r:id="rId7"/>
    <p:sldId id="2568" r:id="rId8"/>
    <p:sldId id="2569" r:id="rId9"/>
    <p:sldId id="2570" r:id="rId10"/>
    <p:sldId id="2571" r:id="rId11"/>
    <p:sldId id="2573" r:id="rId12"/>
    <p:sldId id="25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grating Legacy SCM and Defects to GitHub" id="{D80D41A1-5E28-437F-ABFD-9BEC5A5E4FC2}">
          <p14:sldIdLst>
            <p14:sldId id="2561"/>
          </p14:sldIdLst>
        </p14:section>
        <p14:section name="End-to-End CMVC to GitHub Migration" id="{CD4E0F73-AF46-4CC7-A590-591CEB04F671}">
          <p14:sldIdLst>
            <p14:sldId id="2563"/>
            <p14:sldId id="2564"/>
            <p14:sldId id="2565"/>
            <p14:sldId id="2566"/>
            <p14:sldId id="2567"/>
            <p14:sldId id="2568"/>
            <p14:sldId id="2569"/>
            <p14:sldId id="2570"/>
            <p14:sldId id="2571"/>
            <p14:sldId id="2573"/>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77" d="100"/>
          <a:sy n="77" d="100"/>
        </p:scale>
        <p:origin x="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C0C3F7-30B6-4C90-A1B0-3D3D602FF89D}" type="datetimeFigureOut">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5D0BEA-B3AC-4793-BBBF-35A50C1793A1}" type="slidenum">
              <a:t>‹#›</a:t>
            </a:fld>
            <a:endParaRPr lang="en-US"/>
          </a:p>
        </p:txBody>
      </p:sp>
    </p:spTree>
    <p:extLst>
      <p:ext uri="{BB962C8B-B14F-4D97-AF65-F5344CB8AC3E}">
        <p14:creationId xmlns:p14="http://schemas.microsoft.com/office/powerpoint/2010/main" val="3107020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03B4E0A-E132-4A2C-818F-7E48655C7377}" type="slidenum">
              <a:t>1</a:t>
            </a:fld>
            <a:endParaRPr lang="en-US"/>
          </a:p>
        </p:txBody>
      </p:sp>
    </p:spTree>
    <p:extLst>
      <p:ext uri="{BB962C8B-B14F-4D97-AF65-F5344CB8AC3E}">
        <p14:creationId xmlns:p14="http://schemas.microsoft.com/office/powerpoint/2010/main" val="2732668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Legacy SCM platforms impose structural and workflow limitations that hinder modern development. Centralized check-in models slow collaboration, branching is expensive, and integration with modern CI/CD pipelines is often limited or brittle. At the same time, organizations cannot afford to discard years of engineering insight embedded in these systems. Source history documents how systems evolved, defects explain why changes were made, and release data provides regulatory and operational evidence. A poorly executed migration risks erasing this institutional memory, leading to loss of accountability, reduced confidence in the new platform, and resistance from experienced engineers. This slide emphasizes that successful migration must balance modernization with preservation. GitHub adoption unlocks distributed workflows, automation through GitHub Actions, and improved developer experience, but only if teams can still answer critical questions such as who changed what, when, and why. Framing migration as a business and engineering continuity problem helps stakeholders align around the need for high-fidelity outcomes rather than quick wins.</a:t>
            </a:r>
          </a:p>
        </p:txBody>
      </p:sp>
      <p:sp>
        <p:nvSpPr>
          <p:cNvPr id="4" name="Slide Number Placeholder 3"/>
          <p:cNvSpPr>
            <a:spLocks noGrp="1"/>
          </p:cNvSpPr>
          <p:nvPr>
            <p:ph type="sldNum" sz="quarter" idx="5"/>
          </p:nvPr>
        </p:nvSpPr>
        <p:spPr/>
        <p:txBody>
          <a:bodyPr/>
          <a:lstStyle/>
          <a:p>
            <a:fld id="{503B4E0A-E132-4A2C-818F-7E48655C7377}" type="slidenum">
              <a:t>2</a:t>
            </a:fld>
            <a:endParaRPr lang="en-US"/>
          </a:p>
        </p:txBody>
      </p:sp>
    </p:spTree>
    <p:extLst>
      <p:ext uri="{BB962C8B-B14F-4D97-AF65-F5344CB8AC3E}">
        <p14:creationId xmlns:p14="http://schemas.microsoft.com/office/powerpoint/2010/main" val="3707174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comprehensive CMVC to GitHub migration must account for multiple categories of data. Source code includes files, versions, branches, and releases that must be translated into Git commits, branches, and tags. Defect data encompasses identifiers, descriptions, status transitions, priorities, owners, and comments that collectively represent the defect lifecycle. Traceability connects these domains, linking defects to specific changesets and releases. Additionally, collaboration history such as timestamps and authorship is essential for audits and forensic analysis. This slide clarifies that a source-only migration is insufficient for enterprise teams, as it strips away context that engineers rely on daily. By explicitly defining migration scope early, teams can select appropriate tooling, design data mappings, and set realistic expectations with stakeholders. This clarity reduces rework and ensures the resulting GitHub repositories feel complete and trustworthy from day one.</a:t>
            </a:r>
          </a:p>
        </p:txBody>
      </p:sp>
      <p:sp>
        <p:nvSpPr>
          <p:cNvPr id="4" name="Slide Number Placeholder 3"/>
          <p:cNvSpPr>
            <a:spLocks noGrp="1"/>
          </p:cNvSpPr>
          <p:nvPr>
            <p:ph type="sldNum" sz="quarter" idx="5"/>
          </p:nvPr>
        </p:nvSpPr>
        <p:spPr/>
        <p:txBody>
          <a:bodyPr/>
          <a:lstStyle/>
          <a:p>
            <a:fld id="{503B4E0A-E132-4A2C-818F-7E48655C7377}" type="slidenum">
              <a:t>3</a:t>
            </a:fld>
            <a:endParaRPr lang="en-US"/>
          </a:p>
        </p:txBody>
      </p:sp>
    </p:spTree>
    <p:extLst>
      <p:ext uri="{BB962C8B-B14F-4D97-AF65-F5344CB8AC3E}">
        <p14:creationId xmlns:p14="http://schemas.microsoft.com/office/powerpoint/2010/main" val="4017101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migration architecture presented follows an Extract, Transform, Load, and Validate (ETLV) model tailored for SCM and defect systems. In the extraction phase, data is pulled from CMVC, including file versions, change history, defects, comments, and relationships. Transformation normalizes this data by mapping users, timestamps, branches, releases, and defect states into structures compatible with Git and GitHub. The load phase converts transformed source history into Git commits and pushes repositories to GitHub, while defects are created as GitHub issues using APIs. Validation closes the loop by comparing artifact counts, sampling metadata, and verifying traceability. This structured approach ensures repeatability, supports dry runs, and provides audit evidence. It also allows incremental improvement of tooling without risking data corruption, making it suitable for large-scale enterprise migrations.</a:t>
            </a:r>
          </a:p>
        </p:txBody>
      </p:sp>
      <p:sp>
        <p:nvSpPr>
          <p:cNvPr id="4" name="Slide Number Placeholder 3"/>
          <p:cNvSpPr>
            <a:spLocks noGrp="1"/>
          </p:cNvSpPr>
          <p:nvPr>
            <p:ph type="sldNum" sz="quarter" idx="5"/>
          </p:nvPr>
        </p:nvSpPr>
        <p:spPr/>
        <p:txBody>
          <a:bodyPr/>
          <a:lstStyle/>
          <a:p>
            <a:fld id="{503B4E0A-E132-4A2C-818F-7E48655C7377}" type="slidenum">
              <a:t>4</a:t>
            </a:fld>
            <a:endParaRPr lang="en-US"/>
          </a:p>
        </p:txBody>
      </p:sp>
    </p:spTree>
    <p:extLst>
      <p:ext uri="{BB962C8B-B14F-4D97-AF65-F5344CB8AC3E}">
        <p14:creationId xmlns:p14="http://schemas.microsoft.com/office/powerpoint/2010/main" val="1491189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Preserving source history is central to migration credibility. Each CMVC change is transformed into a meaningful Git commit that reflects original authorship and timing. User identities are mapped so that Git commit authors correspond to original engineers, maintaining accountability. Original timestamps are preserved where possible to keep chronological accuracy. CMVC releases or levels are represented as Git tags, enabling teams to reference historical baselines. Branching structures are recreated using Git branches that align with modern naming conventions. Commit messages often embed original defect IDs, providing a direct link between code and issues. Together, these practices ensure that Git history remains navigable and informative, rather than a flattened snapshot. Engineers can continue to use familiar investigative techniques such as git blame and log with confidence in the results.</a:t>
            </a:r>
          </a:p>
        </p:txBody>
      </p:sp>
      <p:sp>
        <p:nvSpPr>
          <p:cNvPr id="4" name="Slide Number Placeholder 3"/>
          <p:cNvSpPr>
            <a:spLocks noGrp="1"/>
          </p:cNvSpPr>
          <p:nvPr>
            <p:ph type="sldNum" sz="quarter" idx="5"/>
          </p:nvPr>
        </p:nvSpPr>
        <p:spPr/>
        <p:txBody>
          <a:bodyPr/>
          <a:lstStyle/>
          <a:p>
            <a:fld id="{503B4E0A-E132-4A2C-818F-7E48655C7377}" type="slidenum">
              <a:t>5</a:t>
            </a:fld>
            <a:endParaRPr lang="en-US"/>
          </a:p>
        </p:txBody>
      </p:sp>
    </p:spTree>
    <p:extLst>
      <p:ext uri="{BB962C8B-B14F-4D97-AF65-F5344CB8AC3E}">
        <p14:creationId xmlns:p14="http://schemas.microsoft.com/office/powerpoint/2010/main" val="673034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Defect migration focuses on preserving lifecycle and context rather than merely importing records. Each CMVC defect is migrated to a GitHub issue with its original identifier retained in the title or metadata. Status values are mapped to issue states and labels, while ownership becomes assignees. Severity and priority are represented using labels or structured fields. Historical comments are migrated as issue comments, maintaining discussion threads and decision rationale. Relationships between defects and code changes are preserved through references to commit hashes or pull requests. By using GitHub’s REST APIs, the migration tooling can accurately recreate these artifacts at scale. The result is a defect backlog that feels native to GitHub while retaining the richness of legacy data.</a:t>
            </a:r>
          </a:p>
        </p:txBody>
      </p:sp>
      <p:sp>
        <p:nvSpPr>
          <p:cNvPr id="4" name="Slide Number Placeholder 3"/>
          <p:cNvSpPr>
            <a:spLocks noGrp="1"/>
          </p:cNvSpPr>
          <p:nvPr>
            <p:ph type="sldNum" sz="quarter" idx="5"/>
          </p:nvPr>
        </p:nvSpPr>
        <p:spPr/>
        <p:txBody>
          <a:bodyPr/>
          <a:lstStyle/>
          <a:p>
            <a:fld id="{503B4E0A-E132-4A2C-818F-7E48655C7377}" type="slidenum">
              <a:t>6</a:t>
            </a:fld>
            <a:endParaRPr lang="en-US"/>
          </a:p>
        </p:txBody>
      </p:sp>
    </p:spTree>
    <p:extLst>
      <p:ext uri="{BB962C8B-B14F-4D97-AF65-F5344CB8AC3E}">
        <p14:creationId xmlns:p14="http://schemas.microsoft.com/office/powerpoint/2010/main" val="4194002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Automation is critical for reliability and scalability. Migration scripts are driven by configuration files that define repository mappings, user mappings, and status translations. Dry-run modes allow teams to generate reports without modifying GitHub, enabling early detection of gaps. Execution phases perform batch migrations with logging, retries, and error handling. Reporting summarizes successes, failures, and exceptions, providing transparency to stakeholders. This automated approach avoids error-prone manual processes and supports repeatable migrations across multiple repositories. It also enables iterative refinement, where mappings can be adjusted and migrations rerun until validation criteria are met.</a:t>
            </a:r>
          </a:p>
        </p:txBody>
      </p:sp>
      <p:sp>
        <p:nvSpPr>
          <p:cNvPr id="4" name="Slide Number Placeholder 3"/>
          <p:cNvSpPr>
            <a:spLocks noGrp="1"/>
          </p:cNvSpPr>
          <p:nvPr>
            <p:ph type="sldNum" sz="quarter" idx="5"/>
          </p:nvPr>
        </p:nvSpPr>
        <p:spPr/>
        <p:txBody>
          <a:bodyPr/>
          <a:lstStyle/>
          <a:p>
            <a:fld id="{503B4E0A-E132-4A2C-818F-7E48655C7377}" type="slidenum">
              <a:t>7</a:t>
            </a:fld>
            <a:endParaRPr lang="en-US"/>
          </a:p>
        </p:txBody>
      </p:sp>
    </p:spTree>
    <p:extLst>
      <p:ext uri="{BB962C8B-B14F-4D97-AF65-F5344CB8AC3E}">
        <p14:creationId xmlns:p14="http://schemas.microsoft.com/office/powerpoint/2010/main" val="4148244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Validation provides confidence that the migration meets fidelity requirements. Teams verify repository counts, default branches, and commit totals. Spot checks confirm authors, timestamps, branches, and tags. Defect validation ensures issue counts, states, labels, assignees, and comments match the source system. Traceability is tested by following links from defects to commits and releases. Exception reports highlight unmapped users or unsupported artifacts. Finally, stakeholders review sampled high-value components to provide sign-off. This disciplined validation process transforms migration from a leap of faith into an evidence-based transition.</a:t>
            </a:r>
          </a:p>
        </p:txBody>
      </p:sp>
      <p:sp>
        <p:nvSpPr>
          <p:cNvPr id="4" name="Slide Number Placeholder 3"/>
          <p:cNvSpPr>
            <a:spLocks noGrp="1"/>
          </p:cNvSpPr>
          <p:nvPr>
            <p:ph type="sldNum" sz="quarter" idx="5"/>
          </p:nvPr>
        </p:nvSpPr>
        <p:spPr/>
        <p:txBody>
          <a:bodyPr/>
          <a:lstStyle/>
          <a:p>
            <a:fld id="{503B4E0A-E132-4A2C-818F-7E48655C7377}" type="slidenum">
              <a:t>8</a:t>
            </a:fld>
            <a:endParaRPr lang="en-US"/>
          </a:p>
        </p:txBody>
      </p:sp>
    </p:spTree>
    <p:extLst>
      <p:ext uri="{BB962C8B-B14F-4D97-AF65-F5344CB8AC3E}">
        <p14:creationId xmlns:p14="http://schemas.microsoft.com/office/powerpoint/2010/main" val="3112222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live demonstration illustrates the complete migration pipeline in action. Starting with CMVC source and defect exports, the tooling extracts and transforms data before generating Git repositories and GitHub issues. Attendees observe how commits, branches, tags, issues, labels, and comments are created automatically. Validation reports are reviewed to confirm accuracy. By defining expected outputs before execution, the demo reinforces transparency and builds trust in the process. This practical walkthrough helps attendees visualize how similar tooling could be applied in their own environments.</a:t>
            </a:r>
          </a:p>
        </p:txBody>
      </p:sp>
      <p:sp>
        <p:nvSpPr>
          <p:cNvPr id="4" name="Slide Number Placeholder 3"/>
          <p:cNvSpPr>
            <a:spLocks noGrp="1"/>
          </p:cNvSpPr>
          <p:nvPr>
            <p:ph type="sldNum" sz="quarter" idx="5"/>
          </p:nvPr>
        </p:nvSpPr>
        <p:spPr/>
        <p:txBody>
          <a:bodyPr/>
          <a:lstStyle/>
          <a:p>
            <a:fld id="{503B4E0A-E132-4A2C-818F-7E48655C7377}" type="slidenum">
              <a:t>9</a:t>
            </a:fld>
            <a:endParaRPr lang="en-US"/>
          </a:p>
        </p:txBody>
      </p:sp>
    </p:spTree>
    <p:extLst>
      <p:ext uri="{BB962C8B-B14F-4D97-AF65-F5344CB8AC3E}">
        <p14:creationId xmlns:p14="http://schemas.microsoft.com/office/powerpoint/2010/main" val="3695176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Attendees leave with a clear understanding of how to plan and execute a legacy SCM to GitHub migration that includes both source code and defects. They learn techniques for preserving authorship, timestamps, releases, branches, and traceability. The session demonstrates how defects can be migrated with full lifecycle context, how automation enables repeatability, and how validation ensures accuracy. Finally, attendees gain insight into transitioning from centralized SCM workflows to modern Git-based collaboration models that improve developer experience without sacrificing historical integrity.</a:t>
            </a:r>
          </a:p>
        </p:txBody>
      </p:sp>
      <p:sp>
        <p:nvSpPr>
          <p:cNvPr id="4" name="Slide Number Placeholder 3"/>
          <p:cNvSpPr>
            <a:spLocks noGrp="1"/>
          </p:cNvSpPr>
          <p:nvPr>
            <p:ph type="sldNum" sz="quarter" idx="5"/>
          </p:nvPr>
        </p:nvSpPr>
        <p:spPr/>
        <p:txBody>
          <a:bodyPr/>
          <a:lstStyle/>
          <a:p>
            <a:fld id="{503B4E0A-E132-4A2C-818F-7E48655C7377}" type="slidenum">
              <a:t>10</a:t>
            </a:fld>
            <a:endParaRPr lang="en-US"/>
          </a:p>
        </p:txBody>
      </p:sp>
    </p:spTree>
    <p:extLst>
      <p:ext uri="{BB962C8B-B14F-4D97-AF65-F5344CB8AC3E}">
        <p14:creationId xmlns:p14="http://schemas.microsoft.com/office/powerpoint/2010/main" val="261414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session concludes by reinforcing the core message: organizations can modernize their development workflows without losing their engineering memory. By treating migration as a disciplined transformation effort, teams can adopt GitHub’s powerful collaboration and automation features while preserving the historical context that underpins quality and accountability. The closing discussion invites questions, encourages sharing of migration challenges, and highlights that successful transitions are as much about people and trust as they are about tooling.</a:t>
            </a:r>
          </a:p>
        </p:txBody>
      </p:sp>
      <p:sp>
        <p:nvSpPr>
          <p:cNvPr id="4" name="Slide Number Placeholder 3"/>
          <p:cNvSpPr>
            <a:spLocks noGrp="1"/>
          </p:cNvSpPr>
          <p:nvPr>
            <p:ph type="sldNum" sz="quarter" idx="5"/>
          </p:nvPr>
        </p:nvSpPr>
        <p:spPr/>
        <p:txBody>
          <a:bodyPr/>
          <a:lstStyle/>
          <a:p>
            <a:fld id="{503B4E0A-E132-4A2C-818F-7E48655C7377}" type="slidenum">
              <a:t>11</a:t>
            </a:fld>
            <a:endParaRPr lang="en-US"/>
          </a:p>
        </p:txBody>
      </p:sp>
    </p:spTree>
    <p:extLst>
      <p:ext uri="{BB962C8B-B14F-4D97-AF65-F5344CB8AC3E}">
        <p14:creationId xmlns:p14="http://schemas.microsoft.com/office/powerpoint/2010/main" val="27275249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6/26/2026</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32415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6/26/2026</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92468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6/26/2026</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045136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6/26/2026</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415643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6/26/2026</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844411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6/26/2026</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462467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6/26/2026</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060317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6/26/2026</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304486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6/26/2026</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504304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6/26/2026</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037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6/26/2026</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42079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6/26/2026</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25854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6/26/2026</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11335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6/26/2026</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66834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6/26/2026</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885064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6/26/2026</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6427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6/26/2026</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93850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6/26/2026</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04429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6/26/2026</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29355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6/26/2026</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162315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6/26/2026</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73263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6/26/2026</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628983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6/26/2026</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650162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6/26/2026</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110724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6/26/2026</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766495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6/26/2026</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17330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6/26/2026</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483754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6/26/2026</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361567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6/26/2026</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1767522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6/26/2026</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7966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6/26/2026</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726353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6/26/2026</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336210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6/26/2026</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027577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6/26/2026</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987552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6/26/2026</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379557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6/26/2026</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0425857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6/26/2026</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a:t>##%</a:t>
            </a:r>
          </a:p>
        </p:txBody>
      </p:sp>
    </p:spTree>
    <p:extLst>
      <p:ext uri="{BB962C8B-B14F-4D97-AF65-F5344CB8AC3E}">
        <p14:creationId xmlns:p14="http://schemas.microsoft.com/office/powerpoint/2010/main" val="30013716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6/26/2026</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88466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6/26/2026</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22793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6/26/2026</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8273075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6/26/2026</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679203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6/26/2026</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9979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6/26/2026</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710671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6/26/2026</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982804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Tree>
    <p:extLst>
      <p:ext uri="{BB962C8B-B14F-4D97-AF65-F5344CB8AC3E}">
        <p14:creationId xmlns:p14="http://schemas.microsoft.com/office/powerpoint/2010/main" val="1455533721"/>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6/26/2026</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14081270"/>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6/26/2026</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3013899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6/26/2026</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4665683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6/26/2026</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657825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6/26/2026</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437612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6/26/2026</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903563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6/26/2026</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148143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6/26/2026</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22726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6/26/2026</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84751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6/26/2026</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58144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4FA6-F2B6-4E68-D7F3-FED152156474}"/>
              </a:ext>
            </a:extLst>
          </p:cNvPr>
          <p:cNvSpPr>
            <a:spLocks noGrp="1"/>
          </p:cNvSpPr>
          <p:nvPr>
            <p:ph type="ctrTitle"/>
          </p:nvPr>
        </p:nvSpPr>
        <p:spPr>
          <a:xfrm>
            <a:off x="381000" y="838200"/>
            <a:ext cx="11430000" cy="3657600"/>
          </a:xfrm>
        </p:spPr>
        <p:txBody>
          <a:bodyPr anchor="b">
            <a:normAutofit/>
          </a:bodyPr>
          <a:lstStyle/>
          <a:p>
            <a:r>
              <a:rPr lang="en-US"/>
              <a:t>Migrating Legacy SCM and Defects to GitHub</a:t>
            </a:r>
          </a:p>
        </p:txBody>
      </p:sp>
      <p:sp>
        <p:nvSpPr>
          <p:cNvPr id="3" name="Subtitle 2">
            <a:extLst>
              <a:ext uri="{FF2B5EF4-FFF2-40B4-BE49-F238E27FC236}">
                <a16:creationId xmlns:a16="http://schemas.microsoft.com/office/drawing/2014/main" id="{78AA75DE-2E1A-1EAD-0B9F-88109AD2CDF2}"/>
              </a:ext>
            </a:extLst>
          </p:cNvPr>
          <p:cNvSpPr>
            <a:spLocks noGrp="1"/>
          </p:cNvSpPr>
          <p:nvPr>
            <p:ph type="subTitle" idx="1"/>
          </p:nvPr>
        </p:nvSpPr>
        <p:spPr>
          <a:xfrm>
            <a:off x="380999" y="4522304"/>
            <a:ext cx="11423901" cy="1200698"/>
          </a:xfrm>
        </p:spPr>
        <p:txBody>
          <a:bodyPr anchor="t">
            <a:normAutofit/>
          </a:bodyPr>
          <a:lstStyle/>
          <a:p>
            <a:r>
              <a:rPr lang="en-US"/>
              <a:t>Modernizing development workflows with advanced tools</a:t>
            </a:r>
          </a:p>
        </p:txBody>
      </p:sp>
      <p:sp>
        <p:nvSpPr>
          <p:cNvPr id="6" name="Slide Number Placeholder 5">
            <a:extLst>
              <a:ext uri="{FF2B5EF4-FFF2-40B4-BE49-F238E27FC236}">
                <a16:creationId xmlns:a16="http://schemas.microsoft.com/office/drawing/2014/main" id="{6318A038-1E41-6BC7-00A6-F218EA5178EC}"/>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369109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23DB-4C53-1786-EE2F-8E76D9D657FB}"/>
              </a:ext>
            </a:extLst>
          </p:cNvPr>
          <p:cNvSpPr>
            <a:spLocks noGrp="1"/>
          </p:cNvSpPr>
          <p:nvPr>
            <p:ph type="title"/>
          </p:nvPr>
        </p:nvSpPr>
        <p:spPr>
          <a:xfrm>
            <a:off x="381001" y="685801"/>
            <a:ext cx="6857999" cy="914400"/>
          </a:xfrm>
        </p:spPr>
        <p:txBody>
          <a:bodyPr anchor="t">
            <a:normAutofit/>
          </a:bodyPr>
          <a:lstStyle/>
          <a:p>
            <a:r>
              <a:rPr lang="en-US"/>
              <a:t>Why This Migration Matters</a:t>
            </a:r>
          </a:p>
        </p:txBody>
      </p:sp>
      <p:sp>
        <p:nvSpPr>
          <p:cNvPr id="4" name="Content Placeholder 3">
            <a:extLst>
              <a:ext uri="{FF2B5EF4-FFF2-40B4-BE49-F238E27FC236}">
                <a16:creationId xmlns:a16="http://schemas.microsoft.com/office/drawing/2014/main" id="{88860F33-0AC1-03B1-549B-6EB1CED6FA7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lvl="0" indent="0">
              <a:spcBef>
                <a:spcPts val="2500"/>
              </a:spcBef>
              <a:buFont typeface="Arial" panose="020B0604020202020204" pitchFamily="34" charset="0"/>
              <a:buNone/>
            </a:pPr>
            <a:r>
              <a:rPr lang="en-US" b="1"/>
              <a:t>Legacy Limitations</a:t>
            </a:r>
          </a:p>
          <a:p>
            <a:pPr marL="0" lvl="1" indent="0">
              <a:buFont typeface="Arial" panose="020B0604020202020204" pitchFamily="34" charset="0"/>
              <a:buNone/>
            </a:pPr>
            <a:r>
              <a:rPr lang="en-US"/>
              <a:t>Old SCM platforms limit development with centralized check-ins and costly branching, hindering collaboration and integration.</a:t>
            </a:r>
          </a:p>
          <a:p>
            <a:pPr marL="0" lvl="0" indent="0">
              <a:spcBef>
                <a:spcPts val="2500"/>
              </a:spcBef>
              <a:buFont typeface="Arial" panose="020B0604020202020204" pitchFamily="34" charset="0"/>
              <a:buNone/>
            </a:pPr>
            <a:r>
              <a:rPr lang="en-US" b="1"/>
              <a:t>Value of Institutional Memory</a:t>
            </a:r>
          </a:p>
          <a:p>
            <a:pPr marL="0" lvl="1" indent="0">
              <a:buFont typeface="Arial" panose="020B0604020202020204" pitchFamily="34" charset="0"/>
              <a:buNone/>
            </a:pPr>
            <a:r>
              <a:rPr lang="en-US"/>
              <a:t>Preserving source history and defect data protects engineering insights vital for accountability and regulatory compliance.</a:t>
            </a:r>
          </a:p>
          <a:p>
            <a:pPr marL="0" lvl="0" indent="0">
              <a:spcBef>
                <a:spcPts val="2500"/>
              </a:spcBef>
              <a:buFont typeface="Arial" panose="020B0604020202020204" pitchFamily="34" charset="0"/>
              <a:buNone/>
            </a:pPr>
            <a:r>
              <a:rPr lang="en-US" b="1"/>
              <a:t>Benefits of Modern Migration</a:t>
            </a:r>
          </a:p>
          <a:p>
            <a:pPr marL="0" lvl="1" indent="0">
              <a:buFont typeface="Arial" panose="020B0604020202020204" pitchFamily="34" charset="0"/>
              <a:buNone/>
            </a:pPr>
            <a:r>
              <a:rPr lang="en-US"/>
              <a:t>Migrating to GitHub enables distributed workflows, automation, and better developer experience if critical data is maintained.</a:t>
            </a:r>
          </a:p>
          <a:p>
            <a:pPr marL="0" lvl="0" indent="0">
              <a:spcBef>
                <a:spcPts val="2500"/>
              </a:spcBef>
              <a:buFont typeface="Arial" panose="020B0604020202020204" pitchFamily="34" charset="0"/>
              <a:buNone/>
            </a:pPr>
            <a:r>
              <a:rPr lang="en-US" b="1"/>
              <a:t>Balanced Migration Approach</a:t>
            </a:r>
          </a:p>
          <a:p>
            <a:pPr marL="0" lvl="1" indent="0">
              <a:buFont typeface="Arial" panose="020B0604020202020204" pitchFamily="34" charset="0"/>
              <a:buNone/>
            </a:pPr>
            <a:r>
              <a:rPr lang="en-US"/>
              <a:t>Successful migration balances modernization with preserving engineering continuity to ensure stakeholder alignment and trust.</a:t>
            </a:r>
          </a:p>
        </p:txBody>
      </p:sp>
      <p:pic>
        <p:nvPicPr>
          <p:cNvPr id="8" name="Content Placeholder 7" descr="Cloud Technologies Background. Cloud Networking Concept">
            <a:extLst>
              <a:ext uri="{FF2B5EF4-FFF2-40B4-BE49-F238E27FC236}">
                <a16:creationId xmlns:a16="http://schemas.microsoft.com/office/drawing/2014/main" id="{22F4086A-A6AE-49C3-91EF-EDA7879B9F84}"/>
              </a:ext>
            </a:extLst>
          </p:cNvPr>
          <p:cNvPicPr>
            <a:picLocks noGrp="1" noChangeAspect="1"/>
          </p:cNvPicPr>
          <p:nvPr>
            <p:ph type="pic" sz="quarter" idx="15"/>
          </p:nvPr>
        </p:nvPicPr>
        <p:blipFill>
          <a:blip r:embed="rId3"/>
          <a:srcRect l="40501" r="22200" b="-1"/>
          <a:stretch>
            <a:fillRect/>
          </a:stretch>
        </p:blipFill>
        <p:spPr>
          <a:xfrm>
            <a:off x="8382000" y="152400"/>
            <a:ext cx="3657600" cy="6545835"/>
          </a:xfrm>
        </p:spPr>
      </p:pic>
      <p:sp>
        <p:nvSpPr>
          <p:cNvPr id="7" name="Slide Number Placeholder 6">
            <a:extLst>
              <a:ext uri="{FF2B5EF4-FFF2-40B4-BE49-F238E27FC236}">
                <a16:creationId xmlns:a16="http://schemas.microsoft.com/office/drawing/2014/main" id="{34A26CD5-631D-38BE-6B75-A07CB8194B38}"/>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993483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F19A-C692-5270-E266-2C821B07F16F}"/>
              </a:ext>
            </a:extLst>
          </p:cNvPr>
          <p:cNvSpPr>
            <a:spLocks noGrp="1"/>
          </p:cNvSpPr>
          <p:nvPr>
            <p:ph type="title"/>
          </p:nvPr>
        </p:nvSpPr>
        <p:spPr>
          <a:xfrm>
            <a:off x="381000" y="709099"/>
            <a:ext cx="4572000" cy="1348301"/>
          </a:xfrm>
        </p:spPr>
        <p:txBody>
          <a:bodyPr anchor="t">
            <a:normAutofit/>
          </a:bodyPr>
          <a:lstStyle/>
          <a:p>
            <a:r>
              <a:rPr lang="en-US"/>
              <a:t>Migration Scope: Beyond Source Code</a:t>
            </a:r>
          </a:p>
        </p:txBody>
      </p:sp>
      <p:pic>
        <p:nvPicPr>
          <p:cNvPr id="8" name="Content Placeholder 7" descr="4K Resolution">
            <a:extLst>
              <a:ext uri="{FF2B5EF4-FFF2-40B4-BE49-F238E27FC236}">
                <a16:creationId xmlns:a16="http://schemas.microsoft.com/office/drawing/2014/main" id="{31016282-C61E-47A3-A305-41E5D170B922}"/>
              </a:ext>
            </a:extLst>
          </p:cNvPr>
          <p:cNvPicPr>
            <a:picLocks noGrp="1" noChangeAspect="1"/>
          </p:cNvPicPr>
          <p:nvPr>
            <p:ph type="pic" sz="quarter" idx="15"/>
          </p:nvPr>
        </p:nvPicPr>
        <p:blipFill>
          <a:blip r:embed="rId3"/>
          <a:srcRect l="13674" r="14001" b="3"/>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AE195D16-CB3F-F7D0-B622-09FD89B17E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a:t>Comprehensive Data Migration</a:t>
            </a:r>
          </a:p>
          <a:p>
            <a:pPr marL="0" lvl="1" indent="0">
              <a:buFont typeface="Arial" panose="020B0604020202020204" pitchFamily="34" charset="0"/>
              <a:buNone/>
            </a:pPr>
            <a:r>
              <a:rPr lang="en-US"/>
              <a:t>Migration includes source code files, versions, branches, and releases mapped to Git entities like commits and tags.</a:t>
            </a:r>
          </a:p>
          <a:p>
            <a:pPr marL="0" lvl="0" indent="0">
              <a:spcBef>
                <a:spcPts val="2500"/>
              </a:spcBef>
              <a:buFont typeface="Arial" panose="020B0604020202020204" pitchFamily="34" charset="0"/>
              <a:buNone/>
            </a:pPr>
            <a:r>
              <a:rPr lang="en-US" b="1"/>
              <a:t>Defect Data Integration</a:t>
            </a:r>
          </a:p>
          <a:p>
            <a:pPr marL="0" lvl="1" indent="0">
              <a:buFont typeface="Arial" panose="020B0604020202020204" pitchFamily="34" charset="0"/>
              <a:buNone/>
            </a:pPr>
            <a:r>
              <a:rPr lang="en-US"/>
              <a:t>Defect data with identifiers, statuses, priorities, and comments must be migrated to preserve defect lifecycle context.</a:t>
            </a:r>
          </a:p>
          <a:p>
            <a:pPr marL="0" lvl="0" indent="0">
              <a:spcBef>
                <a:spcPts val="2500"/>
              </a:spcBef>
              <a:buFont typeface="Arial" panose="020B0604020202020204" pitchFamily="34" charset="0"/>
              <a:buNone/>
            </a:pPr>
            <a:r>
              <a:rPr lang="en-US" b="1"/>
              <a:t>Traceability Links</a:t>
            </a:r>
          </a:p>
          <a:p>
            <a:pPr marL="0" lvl="1" indent="0">
              <a:buFont typeface="Arial" panose="020B0604020202020204" pitchFamily="34" charset="0"/>
              <a:buNone/>
            </a:pPr>
            <a:r>
              <a:rPr lang="en-US"/>
              <a:t>Linking defects to changesets and releases maintains traceability essential for audits and impact analysis.</a:t>
            </a:r>
          </a:p>
          <a:p>
            <a:pPr marL="0" lvl="0" indent="0">
              <a:spcBef>
                <a:spcPts val="2500"/>
              </a:spcBef>
              <a:buFont typeface="Arial" panose="020B0604020202020204" pitchFamily="34" charset="0"/>
              <a:buNone/>
            </a:pPr>
            <a:r>
              <a:rPr lang="en-US" b="1"/>
              <a:t>Collaboration History</a:t>
            </a:r>
          </a:p>
          <a:p>
            <a:pPr marL="0" lvl="1" indent="0">
              <a:buFont typeface="Arial" panose="020B0604020202020204" pitchFamily="34" charset="0"/>
              <a:buNone/>
            </a:pPr>
            <a:r>
              <a:rPr lang="en-US"/>
              <a:t>Preserving timestamps and authorship data supports forensic analysis and audit requirements post-migration.</a:t>
            </a:r>
          </a:p>
        </p:txBody>
      </p:sp>
      <p:sp>
        <p:nvSpPr>
          <p:cNvPr id="7" name="Slide Number Placeholder 6">
            <a:extLst>
              <a:ext uri="{FF2B5EF4-FFF2-40B4-BE49-F238E27FC236}">
                <a16:creationId xmlns:a16="http://schemas.microsoft.com/office/drawing/2014/main" id="{5C766191-AE37-EAB5-9BA5-A36C804A67FD}"/>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3367119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B6280-C499-6DA3-E5B0-82626411CD66}"/>
              </a:ext>
            </a:extLst>
          </p:cNvPr>
          <p:cNvSpPr>
            <a:spLocks noGrp="1"/>
          </p:cNvSpPr>
          <p:nvPr>
            <p:ph type="title"/>
          </p:nvPr>
        </p:nvSpPr>
        <p:spPr>
          <a:xfrm>
            <a:off x="381000" y="709099"/>
            <a:ext cx="4572000" cy="1348301"/>
          </a:xfrm>
        </p:spPr>
        <p:txBody>
          <a:bodyPr anchor="t">
            <a:normAutofit/>
          </a:bodyPr>
          <a:lstStyle/>
          <a:p>
            <a:r>
              <a:rPr lang="en-US"/>
              <a:t>Target Migration Architecture</a:t>
            </a:r>
          </a:p>
        </p:txBody>
      </p:sp>
      <p:pic>
        <p:nvPicPr>
          <p:cNvPr id="8" name="Content Placeholder 7" descr="flowchart">
            <a:extLst>
              <a:ext uri="{FF2B5EF4-FFF2-40B4-BE49-F238E27FC236}">
                <a16:creationId xmlns:a16="http://schemas.microsoft.com/office/drawing/2014/main" id="{7239A63B-268B-4255-9B77-2CF0171FA5BF}"/>
              </a:ext>
            </a:extLst>
          </p:cNvPr>
          <p:cNvPicPr>
            <a:picLocks noGrp="1" noChangeAspect="1"/>
          </p:cNvPicPr>
          <p:nvPr>
            <p:ph type="pic" sz="quarter" idx="15"/>
          </p:nvPr>
        </p:nvPicPr>
        <p:blipFill>
          <a:blip r:embed="rId3"/>
          <a:srcRect l="424" r="3136" b="-3"/>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B4220376-3C67-52A2-A58C-B069E725E2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dirty="0"/>
              <a:t>Extraction Phase</a:t>
            </a:r>
          </a:p>
          <a:p>
            <a:pPr marL="0" lvl="1" indent="0">
              <a:buFont typeface="Arial" panose="020B0604020202020204" pitchFamily="34" charset="0"/>
              <a:buNone/>
            </a:pPr>
            <a:r>
              <a:rPr lang="en-US" dirty="0"/>
              <a:t>Data is extracted from CMVC, including versions, history, defects, and relationships for migration.</a:t>
            </a:r>
          </a:p>
          <a:p>
            <a:pPr marL="0" lvl="0" indent="0">
              <a:spcBef>
                <a:spcPts val="2500"/>
              </a:spcBef>
              <a:buFont typeface="Arial" panose="020B0604020202020204" pitchFamily="34" charset="0"/>
              <a:buNone/>
            </a:pPr>
            <a:r>
              <a:rPr lang="en-US" b="1" dirty="0"/>
              <a:t>Transformation Phase</a:t>
            </a:r>
          </a:p>
          <a:p>
            <a:pPr marL="0" lvl="1" indent="0">
              <a:buFont typeface="Arial" panose="020B0604020202020204" pitchFamily="34" charset="0"/>
              <a:buNone/>
            </a:pPr>
            <a:r>
              <a:rPr lang="en-US" dirty="0"/>
              <a:t>Extracted data is normalized and mapped to structures compatible with GitHub.</a:t>
            </a:r>
          </a:p>
          <a:p>
            <a:pPr marL="0" lvl="0" indent="0">
              <a:spcBef>
                <a:spcPts val="2500"/>
              </a:spcBef>
              <a:buFont typeface="Arial" panose="020B0604020202020204" pitchFamily="34" charset="0"/>
              <a:buNone/>
            </a:pPr>
            <a:r>
              <a:rPr lang="en-US" b="1" dirty="0"/>
              <a:t>Load Phase</a:t>
            </a:r>
          </a:p>
          <a:p>
            <a:pPr marL="0" lvl="1" indent="0">
              <a:buFont typeface="Arial" panose="020B0604020202020204" pitchFamily="34" charset="0"/>
              <a:buNone/>
            </a:pPr>
            <a:r>
              <a:rPr lang="en-US" dirty="0"/>
              <a:t>Transformed data is converted into Git commits and defects become GitHub issues via APIs.</a:t>
            </a:r>
          </a:p>
          <a:p>
            <a:pPr marL="0" lvl="0" indent="0">
              <a:spcBef>
                <a:spcPts val="2500"/>
              </a:spcBef>
              <a:buFont typeface="Arial" panose="020B0604020202020204" pitchFamily="34" charset="0"/>
              <a:buNone/>
            </a:pPr>
            <a:r>
              <a:rPr lang="en-US" b="1" dirty="0"/>
              <a:t>Validation Phase</a:t>
            </a:r>
          </a:p>
          <a:p>
            <a:pPr marL="0" lvl="1" indent="0">
              <a:buFont typeface="Arial" panose="020B0604020202020204" pitchFamily="34" charset="0"/>
              <a:buNone/>
            </a:pPr>
            <a:r>
              <a:rPr lang="en-US" dirty="0"/>
              <a:t>Validation ensures data integrity by comparing counts, sampling metadata, and verifying traceability.</a:t>
            </a:r>
          </a:p>
        </p:txBody>
      </p:sp>
      <p:sp>
        <p:nvSpPr>
          <p:cNvPr id="7" name="Slide Number Placeholder 6">
            <a:extLst>
              <a:ext uri="{FF2B5EF4-FFF2-40B4-BE49-F238E27FC236}">
                <a16:creationId xmlns:a16="http://schemas.microsoft.com/office/drawing/2014/main" id="{BF8B1CD3-9265-7D86-90A9-C5BE3EA05E7E}"/>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4100715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C1FB5-4F1C-5130-AFEE-F7AFEC7719A6}"/>
              </a:ext>
            </a:extLst>
          </p:cNvPr>
          <p:cNvSpPr>
            <a:spLocks noGrp="1"/>
          </p:cNvSpPr>
          <p:nvPr>
            <p:ph type="title"/>
          </p:nvPr>
        </p:nvSpPr>
        <p:spPr>
          <a:xfrm>
            <a:off x="381000" y="685800"/>
            <a:ext cx="3886200" cy="1828800"/>
          </a:xfrm>
        </p:spPr>
        <p:txBody>
          <a:bodyPr anchor="t">
            <a:normAutofit/>
          </a:bodyPr>
          <a:lstStyle/>
          <a:p>
            <a:r>
              <a:rPr lang="en-US"/>
              <a:t>Preserving Source History as Git Commits</a:t>
            </a:r>
          </a:p>
        </p:txBody>
      </p:sp>
      <p:sp>
        <p:nvSpPr>
          <p:cNvPr id="4" name="Content Placeholder 3">
            <a:extLst>
              <a:ext uri="{FF2B5EF4-FFF2-40B4-BE49-F238E27FC236}">
                <a16:creationId xmlns:a16="http://schemas.microsoft.com/office/drawing/2014/main" id="{F0869BC2-BA1C-9361-031D-D947920117D5}"/>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4048" y="2737561"/>
            <a:ext cx="3883152" cy="3434639"/>
          </a:xfrm>
        </p:spPr>
        <p:txBody>
          <a:bodyPr>
            <a:normAutofit/>
          </a:bodyPr>
          <a:lstStyle/>
          <a:p>
            <a:pPr marL="0" lvl="0" indent="0">
              <a:lnSpc>
                <a:spcPct val="110000"/>
              </a:lnSpc>
              <a:spcBef>
                <a:spcPts val="2500"/>
              </a:spcBef>
              <a:buFont typeface="Arial" panose="020B0604020202020204" pitchFamily="34" charset="0"/>
              <a:buNone/>
            </a:pPr>
            <a:r>
              <a:rPr lang="en-US" sz="1000" b="1" dirty="0"/>
              <a:t>Accurate Authorship and Timing</a:t>
            </a:r>
          </a:p>
          <a:p>
            <a:pPr marL="0" lvl="1" indent="0">
              <a:lnSpc>
                <a:spcPct val="110000"/>
              </a:lnSpc>
              <a:buFont typeface="Arial" panose="020B0604020202020204" pitchFamily="34" charset="0"/>
              <a:buNone/>
            </a:pPr>
            <a:r>
              <a:rPr lang="en-US" sz="1000" dirty="0"/>
              <a:t>Each CMVC change is converted into a Git commit preserving original authorship and timestamp for accountability.</a:t>
            </a:r>
          </a:p>
          <a:p>
            <a:pPr marL="0" lvl="0" indent="0">
              <a:lnSpc>
                <a:spcPct val="110000"/>
              </a:lnSpc>
              <a:spcBef>
                <a:spcPts val="2500"/>
              </a:spcBef>
              <a:buFont typeface="Arial" panose="020B0604020202020204" pitchFamily="34" charset="0"/>
              <a:buNone/>
            </a:pPr>
            <a:r>
              <a:rPr lang="en-US" sz="1000" b="1" dirty="0"/>
              <a:t>Preserving Branching and Tags</a:t>
            </a:r>
          </a:p>
          <a:p>
            <a:pPr marL="0" lvl="1" indent="0">
              <a:lnSpc>
                <a:spcPct val="110000"/>
              </a:lnSpc>
              <a:buFont typeface="Arial" panose="020B0604020202020204" pitchFamily="34" charset="0"/>
              <a:buNone/>
            </a:pPr>
            <a:r>
              <a:rPr lang="en-US" sz="1000" dirty="0"/>
              <a:t>Branch structures and release levels are recreated as Git branches and tags for historical reference.</a:t>
            </a:r>
          </a:p>
          <a:p>
            <a:pPr marL="0" lvl="0" indent="0">
              <a:lnSpc>
                <a:spcPct val="110000"/>
              </a:lnSpc>
              <a:spcBef>
                <a:spcPts val="2500"/>
              </a:spcBef>
              <a:buFont typeface="Arial" panose="020B0604020202020204" pitchFamily="34" charset="0"/>
              <a:buNone/>
            </a:pPr>
            <a:r>
              <a:rPr lang="en-US" sz="1000" b="1" dirty="0"/>
              <a:t>Embedding Defect References</a:t>
            </a:r>
          </a:p>
          <a:p>
            <a:pPr marL="0" lvl="1" indent="0">
              <a:lnSpc>
                <a:spcPct val="110000"/>
              </a:lnSpc>
              <a:buFont typeface="Arial" panose="020B0604020202020204" pitchFamily="34" charset="0"/>
              <a:buNone/>
            </a:pPr>
            <a:r>
              <a:rPr lang="en-US" sz="1000" dirty="0"/>
              <a:t>Commit messages embed original defect IDs linking code changes directly to issues.</a:t>
            </a:r>
          </a:p>
        </p:txBody>
      </p:sp>
      <p:pic>
        <p:nvPicPr>
          <p:cNvPr id="8" name="Content Placeholder 7"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3CFEE176-EDCD-4A87-9A59-A14BC1B21CC8}"/>
              </a:ext>
            </a:extLst>
          </p:cNvPr>
          <p:cNvPicPr>
            <a:picLocks noGrp="1" noChangeAspect="1"/>
          </p:cNvPicPr>
          <p:nvPr>
            <p:ph idx="1"/>
          </p:nvPr>
        </p:nvPicPr>
        <p:blipFill>
          <a:blip r:embed="rId3"/>
          <a:stretch>
            <a:fillRect/>
          </a:stretch>
        </p:blipFill>
        <p:spPr>
          <a:xfrm>
            <a:off x="5181600" y="1564481"/>
            <a:ext cx="6629400" cy="3729037"/>
          </a:xfrm>
        </p:spPr>
      </p:pic>
      <p:sp>
        <p:nvSpPr>
          <p:cNvPr id="7" name="Slide Number Placeholder 6">
            <a:extLst>
              <a:ext uri="{FF2B5EF4-FFF2-40B4-BE49-F238E27FC236}">
                <a16:creationId xmlns:a16="http://schemas.microsoft.com/office/drawing/2014/main" id="{A1E0451F-5620-DEA5-D6A4-21BB3598FD3F}"/>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767712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27CD-3E36-F137-A9B0-99B06E7C3A53}"/>
              </a:ext>
            </a:extLst>
          </p:cNvPr>
          <p:cNvSpPr>
            <a:spLocks noGrp="1"/>
          </p:cNvSpPr>
          <p:nvPr>
            <p:ph type="title"/>
          </p:nvPr>
        </p:nvSpPr>
        <p:spPr>
          <a:xfrm>
            <a:off x="381001" y="685801"/>
            <a:ext cx="6857999" cy="914400"/>
          </a:xfrm>
        </p:spPr>
        <p:txBody>
          <a:bodyPr anchor="t">
            <a:normAutofit/>
          </a:bodyPr>
          <a:lstStyle/>
          <a:p>
            <a:r>
              <a:rPr lang="en-US"/>
              <a:t>Migrating Defects to GitHub Issues</a:t>
            </a:r>
          </a:p>
        </p:txBody>
      </p:sp>
      <p:sp>
        <p:nvSpPr>
          <p:cNvPr id="4" name="Content Placeholder 3">
            <a:extLst>
              <a:ext uri="{FF2B5EF4-FFF2-40B4-BE49-F238E27FC236}">
                <a16:creationId xmlns:a16="http://schemas.microsoft.com/office/drawing/2014/main" id="{34D979A6-BD71-172A-D3CA-74E64A1DE95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lvl="0" indent="0">
              <a:spcBef>
                <a:spcPts val="2500"/>
              </a:spcBef>
              <a:buFont typeface="Arial" panose="020B0604020202020204" pitchFamily="34" charset="0"/>
              <a:buNone/>
            </a:pPr>
            <a:r>
              <a:rPr lang="en-US" b="1" dirty="0"/>
              <a:t>Defect Context Preservation</a:t>
            </a:r>
          </a:p>
          <a:p>
            <a:pPr marL="0" lvl="1" indent="0">
              <a:buFont typeface="Arial" panose="020B0604020202020204" pitchFamily="34" charset="0"/>
              <a:buNone/>
            </a:pPr>
            <a:r>
              <a:rPr lang="en-US" dirty="0"/>
              <a:t>Migration preserves the lifecycle and context of defects beyond simple record import.</a:t>
            </a:r>
          </a:p>
          <a:p>
            <a:pPr marL="0" lvl="1" indent="0">
              <a:buFont typeface="Arial" panose="020B0604020202020204" pitchFamily="34" charset="0"/>
              <a:buNone/>
            </a:pPr>
            <a:endParaRPr lang="en-US" dirty="0"/>
          </a:p>
          <a:p>
            <a:pPr marL="0" lvl="1" indent="0">
              <a:buFont typeface="Arial" panose="020B0604020202020204" pitchFamily="34" charset="0"/>
              <a:buNone/>
            </a:pPr>
            <a:r>
              <a:rPr lang="en-US" b="1" dirty="0"/>
              <a:t>Historical Comments Migration</a:t>
            </a:r>
          </a:p>
          <a:p>
            <a:pPr marL="0" lvl="1" indent="0">
              <a:buFont typeface="Arial" panose="020B0604020202020204" pitchFamily="34" charset="0"/>
              <a:buNone/>
            </a:pPr>
            <a:r>
              <a:rPr lang="en-US" dirty="0"/>
              <a:t>Historical defect discussions and comments are migrated to preserve decision rationale.</a:t>
            </a:r>
          </a:p>
          <a:p>
            <a:pPr marL="0" lvl="0" indent="0">
              <a:spcBef>
                <a:spcPts val="2500"/>
              </a:spcBef>
              <a:buFont typeface="Arial" panose="020B0604020202020204" pitchFamily="34" charset="0"/>
              <a:buNone/>
            </a:pPr>
            <a:r>
              <a:rPr lang="en-US" b="1" dirty="0"/>
              <a:t>Linking Defects to Code</a:t>
            </a:r>
          </a:p>
          <a:p>
            <a:pPr marL="0" lvl="1" indent="0">
              <a:buFont typeface="Arial" panose="020B0604020202020204" pitchFamily="34" charset="0"/>
              <a:buNone/>
            </a:pPr>
            <a:r>
              <a:rPr lang="en-US" dirty="0"/>
              <a:t>Relationships between defects and code changes are maintained via commit references.</a:t>
            </a:r>
          </a:p>
        </p:txBody>
      </p:sp>
      <p:pic>
        <p:nvPicPr>
          <p:cNvPr id="8" name="Content Placeholder 7" descr="Shiny pyramid greenhouse sustainable growth and finance concept">
            <a:extLst>
              <a:ext uri="{FF2B5EF4-FFF2-40B4-BE49-F238E27FC236}">
                <a16:creationId xmlns:a16="http://schemas.microsoft.com/office/drawing/2014/main" id="{78374BF6-624B-492C-A267-DA26C5656752}"/>
              </a:ext>
            </a:extLst>
          </p:cNvPr>
          <p:cNvPicPr>
            <a:picLocks noGrp="1" noChangeAspect="1"/>
          </p:cNvPicPr>
          <p:nvPr>
            <p:ph type="pic" sz="quarter" idx="15"/>
          </p:nvPr>
        </p:nvPicPr>
        <p:blipFill>
          <a:blip r:embed="rId3"/>
          <a:srcRect l="45795" r="16906" b="-1"/>
          <a:stretch>
            <a:fillRect/>
          </a:stretch>
        </p:blipFill>
        <p:spPr>
          <a:xfrm>
            <a:off x="8382000" y="152400"/>
            <a:ext cx="3657600" cy="6545835"/>
          </a:xfrm>
        </p:spPr>
      </p:pic>
      <p:sp>
        <p:nvSpPr>
          <p:cNvPr id="7" name="Slide Number Placeholder 6">
            <a:extLst>
              <a:ext uri="{FF2B5EF4-FFF2-40B4-BE49-F238E27FC236}">
                <a16:creationId xmlns:a16="http://schemas.microsoft.com/office/drawing/2014/main" id="{3F55909B-DA96-E5DC-0AB7-C7C286DF8004}"/>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36168396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5C48-9F4F-AC80-C8A0-CDF768FA59B4}"/>
              </a:ext>
            </a:extLst>
          </p:cNvPr>
          <p:cNvSpPr>
            <a:spLocks noGrp="1"/>
          </p:cNvSpPr>
          <p:nvPr>
            <p:ph type="title"/>
          </p:nvPr>
        </p:nvSpPr>
        <p:spPr>
          <a:xfrm>
            <a:off x="381001" y="685801"/>
            <a:ext cx="6857999" cy="914400"/>
          </a:xfrm>
        </p:spPr>
        <p:txBody>
          <a:bodyPr anchor="t">
            <a:normAutofit/>
          </a:bodyPr>
          <a:lstStyle/>
          <a:p>
            <a:r>
              <a:rPr lang="en-US"/>
              <a:t>Automation Strategy for Migration</a:t>
            </a:r>
          </a:p>
        </p:txBody>
      </p:sp>
      <p:sp>
        <p:nvSpPr>
          <p:cNvPr id="4" name="Content Placeholder 3">
            <a:extLst>
              <a:ext uri="{FF2B5EF4-FFF2-40B4-BE49-F238E27FC236}">
                <a16:creationId xmlns:a16="http://schemas.microsoft.com/office/drawing/2014/main" id="{49355C16-5EEA-5094-F59B-CA2ECE060C2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lvl="0" indent="0">
              <a:spcBef>
                <a:spcPts val="2500"/>
              </a:spcBef>
              <a:buFont typeface="Arial" panose="020B0604020202020204" pitchFamily="34" charset="0"/>
              <a:buNone/>
            </a:pPr>
            <a:r>
              <a:rPr lang="en-US" b="1" dirty="0"/>
              <a:t>Configuration-Driven Migration</a:t>
            </a:r>
          </a:p>
          <a:p>
            <a:pPr marL="0" lvl="1" indent="0">
              <a:buFont typeface="Arial" panose="020B0604020202020204" pitchFamily="34" charset="0"/>
              <a:buNone/>
            </a:pPr>
            <a:r>
              <a:rPr lang="en-US" dirty="0"/>
              <a:t>Migration scripts use configuration files to define repository, user mappings, and status translations for automation.</a:t>
            </a:r>
          </a:p>
          <a:p>
            <a:pPr marL="0" lvl="0" indent="0">
              <a:spcBef>
                <a:spcPts val="2500"/>
              </a:spcBef>
              <a:buFont typeface="Arial" panose="020B0604020202020204" pitchFamily="34" charset="0"/>
              <a:buNone/>
            </a:pPr>
            <a:r>
              <a:rPr lang="en-US" b="1" dirty="0"/>
              <a:t>Dry-Run Testing</a:t>
            </a:r>
          </a:p>
          <a:p>
            <a:pPr marL="0" lvl="1" indent="0">
              <a:buFont typeface="Arial" panose="020B0604020202020204" pitchFamily="34" charset="0"/>
              <a:buNone/>
            </a:pPr>
            <a:r>
              <a:rPr lang="en-US" dirty="0"/>
              <a:t>Dry-run mode generates migration reports without changes, allowing early detection of potential issues and gaps.</a:t>
            </a:r>
          </a:p>
          <a:p>
            <a:pPr marL="0" lvl="0" indent="0">
              <a:spcBef>
                <a:spcPts val="2500"/>
              </a:spcBef>
              <a:buFont typeface="Arial" panose="020B0604020202020204" pitchFamily="34" charset="0"/>
              <a:buNone/>
            </a:pPr>
            <a:r>
              <a:rPr lang="en-US" b="1" dirty="0"/>
              <a:t>Execution and Error Handling</a:t>
            </a:r>
          </a:p>
          <a:p>
            <a:pPr marL="0" lvl="1" indent="0">
              <a:buFont typeface="Arial" panose="020B0604020202020204" pitchFamily="34" charset="0"/>
              <a:buNone/>
            </a:pPr>
            <a:r>
              <a:rPr lang="en-US" dirty="0"/>
              <a:t>Batch migrations are executed with logging, retries, and error handling to ensure reliability and scalability.</a:t>
            </a:r>
          </a:p>
        </p:txBody>
      </p:sp>
      <p:pic>
        <p:nvPicPr>
          <p:cNvPr id="8" name="Content Placeholder 7" descr="Smartphone, tablet pc and a laptop with infographic screen">
            <a:extLst>
              <a:ext uri="{FF2B5EF4-FFF2-40B4-BE49-F238E27FC236}">
                <a16:creationId xmlns:a16="http://schemas.microsoft.com/office/drawing/2014/main" id="{C27640A7-0550-4E7D-905C-2F4089CB2EBB}"/>
              </a:ext>
            </a:extLst>
          </p:cNvPr>
          <p:cNvPicPr>
            <a:picLocks noGrp="1" noChangeAspect="1"/>
          </p:cNvPicPr>
          <p:nvPr>
            <p:ph type="pic" sz="quarter" idx="15"/>
          </p:nvPr>
        </p:nvPicPr>
        <p:blipFill>
          <a:blip r:embed="rId3"/>
          <a:srcRect l="43626" r="19075" b="-1"/>
          <a:stretch>
            <a:fillRect/>
          </a:stretch>
        </p:blipFill>
        <p:spPr>
          <a:xfrm>
            <a:off x="8382000" y="152400"/>
            <a:ext cx="3657600" cy="6545835"/>
          </a:xfrm>
        </p:spPr>
      </p:pic>
      <p:sp>
        <p:nvSpPr>
          <p:cNvPr id="7" name="Slide Number Placeholder 6">
            <a:extLst>
              <a:ext uri="{FF2B5EF4-FFF2-40B4-BE49-F238E27FC236}">
                <a16:creationId xmlns:a16="http://schemas.microsoft.com/office/drawing/2014/main" id="{EA921CE6-9442-9258-3744-B88566E3EEB3}"/>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Tree>
    <p:extLst>
      <p:ext uri="{BB962C8B-B14F-4D97-AF65-F5344CB8AC3E}">
        <p14:creationId xmlns:p14="http://schemas.microsoft.com/office/powerpoint/2010/main" val="1418061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D808-5AAE-B1BE-0069-658DF60AF2F4}"/>
              </a:ext>
            </a:extLst>
          </p:cNvPr>
          <p:cNvSpPr>
            <a:spLocks noGrp="1"/>
          </p:cNvSpPr>
          <p:nvPr>
            <p:ph type="title"/>
          </p:nvPr>
        </p:nvSpPr>
        <p:spPr>
          <a:xfrm>
            <a:off x="381000" y="709099"/>
            <a:ext cx="4572000" cy="1348301"/>
          </a:xfrm>
        </p:spPr>
        <p:txBody>
          <a:bodyPr anchor="t">
            <a:normAutofit/>
          </a:bodyPr>
          <a:lstStyle/>
          <a:p>
            <a:r>
              <a:rPr lang="en-US"/>
              <a:t>Validation Checklist and Quality Assurance</a:t>
            </a:r>
          </a:p>
        </p:txBody>
      </p:sp>
      <p:pic>
        <p:nvPicPr>
          <p:cNvPr id="8" name="Content Placeholder 7" descr="Closeup shot of an unrecognisable group of businesspeople analysing data in an office">
            <a:extLst>
              <a:ext uri="{FF2B5EF4-FFF2-40B4-BE49-F238E27FC236}">
                <a16:creationId xmlns:a16="http://schemas.microsoft.com/office/drawing/2014/main" id="{EA7384A1-84F2-40BB-A747-A8A2A167970E}"/>
              </a:ext>
            </a:extLst>
          </p:cNvPr>
          <p:cNvPicPr>
            <a:picLocks noGrp="1" noChangeAspect="1"/>
          </p:cNvPicPr>
          <p:nvPr>
            <p:ph type="pic" sz="quarter" idx="15"/>
          </p:nvPr>
        </p:nvPicPr>
        <p:blipFill>
          <a:blip r:embed="rId3"/>
          <a:srcRect l="4150" r="10019" b="-2"/>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14EA69B8-569A-8FD9-5923-411D636161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dirty="0"/>
              <a:t>Verification of Repository Data</a:t>
            </a:r>
          </a:p>
          <a:p>
            <a:pPr marL="0" lvl="1" indent="0">
              <a:buFont typeface="Arial" panose="020B0604020202020204" pitchFamily="34" charset="0"/>
              <a:buNone/>
            </a:pPr>
            <a:r>
              <a:rPr lang="en-US" dirty="0"/>
              <a:t>Teams verify repository data, default branches, and commit totals to ensure migration accuracy.</a:t>
            </a:r>
          </a:p>
          <a:p>
            <a:pPr marL="0" lvl="0" indent="0">
              <a:spcBef>
                <a:spcPts val="2500"/>
              </a:spcBef>
              <a:buFont typeface="Arial" panose="020B0604020202020204" pitchFamily="34" charset="0"/>
              <a:buNone/>
            </a:pPr>
            <a:r>
              <a:rPr lang="en-US" b="1" dirty="0"/>
              <a:t>Defect Validation Process</a:t>
            </a:r>
          </a:p>
          <a:p>
            <a:pPr marL="0" lvl="1" indent="0">
              <a:buFont typeface="Arial" panose="020B0604020202020204" pitchFamily="34" charset="0"/>
              <a:buNone/>
            </a:pPr>
            <a:r>
              <a:rPr lang="en-US" dirty="0"/>
              <a:t>Validation confirms issue counts, states, labels, assignees, and comments match source system data.</a:t>
            </a:r>
          </a:p>
          <a:p>
            <a:pPr marL="0" lvl="0" indent="0">
              <a:spcBef>
                <a:spcPts val="2500"/>
              </a:spcBef>
              <a:buFont typeface="Arial" panose="020B0604020202020204" pitchFamily="34" charset="0"/>
              <a:buNone/>
            </a:pPr>
            <a:r>
              <a:rPr lang="en-US" b="1" dirty="0"/>
              <a:t>Traceability and Exception Reporting</a:t>
            </a:r>
          </a:p>
          <a:p>
            <a:pPr marL="0" lvl="1" indent="0">
              <a:buFont typeface="Arial" panose="020B0604020202020204" pitchFamily="34" charset="0"/>
              <a:buNone/>
            </a:pPr>
            <a:r>
              <a:rPr lang="en-US" dirty="0"/>
              <a:t>Traceability tested via links from defects to commits; exception reports highlight unmapped users.</a:t>
            </a:r>
          </a:p>
        </p:txBody>
      </p:sp>
      <p:sp>
        <p:nvSpPr>
          <p:cNvPr id="7" name="Slide Number Placeholder 6">
            <a:extLst>
              <a:ext uri="{FF2B5EF4-FFF2-40B4-BE49-F238E27FC236}">
                <a16:creationId xmlns:a16="http://schemas.microsoft.com/office/drawing/2014/main" id="{F8F15676-BF52-F3CB-1B33-250C3F9F6B2C}"/>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Tree>
    <p:extLst>
      <p:ext uri="{BB962C8B-B14F-4D97-AF65-F5344CB8AC3E}">
        <p14:creationId xmlns:p14="http://schemas.microsoft.com/office/powerpoint/2010/main" val="1575878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11749-6FBE-A77E-019C-D68172BE7F2C}"/>
              </a:ext>
            </a:extLst>
          </p:cNvPr>
          <p:cNvSpPr>
            <a:spLocks noGrp="1"/>
          </p:cNvSpPr>
          <p:nvPr>
            <p:ph type="title"/>
          </p:nvPr>
        </p:nvSpPr>
        <p:spPr>
          <a:xfrm>
            <a:off x="381000" y="709099"/>
            <a:ext cx="4572000" cy="1348301"/>
          </a:xfrm>
        </p:spPr>
        <p:txBody>
          <a:bodyPr anchor="t">
            <a:normAutofit/>
          </a:bodyPr>
          <a:lstStyle/>
          <a:p>
            <a:r>
              <a:rPr lang="en-US"/>
              <a:t>Live Demonstration Flow</a:t>
            </a:r>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DE6A0507-608B-4800-8377-2D06416745E5}"/>
              </a:ext>
            </a:extLst>
          </p:cNvPr>
          <p:cNvPicPr>
            <a:picLocks noGrp="1" noChangeAspect="1"/>
          </p:cNvPicPr>
          <p:nvPr>
            <p:ph type="pic" sz="quarter" idx="15"/>
          </p:nvPr>
        </p:nvPicPr>
        <p:blipFill>
          <a:blip r:embed="rId3"/>
          <a:srcRect l="197" r="13972" b="-2"/>
          <a:stretch>
            <a:fillRect/>
          </a:stretch>
        </p:blipFill>
        <p:spPr>
          <a:xfrm>
            <a:off x="387926" y="2590800"/>
            <a:ext cx="4578206" cy="3560521"/>
          </a:xfrm>
        </p:spPr>
      </p:pic>
      <p:sp>
        <p:nvSpPr>
          <p:cNvPr id="4" name="Content Placeholder 3">
            <a:extLst>
              <a:ext uri="{FF2B5EF4-FFF2-40B4-BE49-F238E27FC236}">
                <a16:creationId xmlns:a16="http://schemas.microsoft.com/office/drawing/2014/main" id="{1F138914-7EE0-72A6-7D31-F8516C28152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lvl="0" indent="0">
              <a:spcBef>
                <a:spcPts val="2500"/>
              </a:spcBef>
              <a:buFont typeface="Arial" panose="020B0604020202020204" pitchFamily="34" charset="0"/>
              <a:buNone/>
            </a:pPr>
            <a:r>
              <a:rPr lang="en-US" b="1"/>
              <a:t>Migration Pipeline Overview</a:t>
            </a:r>
          </a:p>
          <a:p>
            <a:pPr marL="0" lvl="1" indent="0">
              <a:buFont typeface="Arial" panose="020B0604020202020204" pitchFamily="34" charset="0"/>
              <a:buNone/>
            </a:pPr>
            <a:r>
              <a:rPr lang="en-US"/>
              <a:t>The demonstration shows the entire migration pipeline from CMVC exports to Git repositories and GitHub issues creation.</a:t>
            </a:r>
          </a:p>
          <a:p>
            <a:pPr marL="0" lvl="0" indent="0">
              <a:spcBef>
                <a:spcPts val="2500"/>
              </a:spcBef>
              <a:buFont typeface="Arial" panose="020B0604020202020204" pitchFamily="34" charset="0"/>
              <a:buNone/>
            </a:pPr>
            <a:r>
              <a:rPr lang="en-US" b="1"/>
              <a:t>Automated Repository Processes</a:t>
            </a:r>
          </a:p>
          <a:p>
            <a:pPr marL="0" lvl="1" indent="0">
              <a:buFont typeface="Arial" panose="020B0604020202020204" pitchFamily="34" charset="0"/>
              <a:buNone/>
            </a:pPr>
            <a:r>
              <a:rPr lang="en-US"/>
              <a:t>Commits, branches, tags, and comments are generated automatically, showcasing automation in repository management.</a:t>
            </a:r>
          </a:p>
          <a:p>
            <a:pPr marL="0" lvl="0" indent="0">
              <a:spcBef>
                <a:spcPts val="2500"/>
              </a:spcBef>
              <a:buFont typeface="Arial" panose="020B0604020202020204" pitchFamily="34" charset="0"/>
              <a:buNone/>
            </a:pPr>
            <a:r>
              <a:rPr lang="en-US" b="1"/>
              <a:t>Validation and Transparency</a:t>
            </a:r>
          </a:p>
          <a:p>
            <a:pPr marL="0" lvl="1" indent="0">
              <a:buFont typeface="Arial" panose="020B0604020202020204" pitchFamily="34" charset="0"/>
              <a:buNone/>
            </a:pPr>
            <a:r>
              <a:rPr lang="en-US"/>
              <a:t>Validation reports ensure accuracy while defining expected outputs before execution builds trust in the process.</a:t>
            </a:r>
          </a:p>
          <a:p>
            <a:pPr marL="0" lvl="0" indent="0">
              <a:spcBef>
                <a:spcPts val="2500"/>
              </a:spcBef>
              <a:buFont typeface="Arial" panose="020B0604020202020204" pitchFamily="34" charset="0"/>
              <a:buNone/>
            </a:pPr>
            <a:r>
              <a:rPr lang="en-US" b="1"/>
              <a:t>Practical Application Benefits</a:t>
            </a:r>
          </a:p>
          <a:p>
            <a:pPr marL="0" lvl="1" indent="0">
              <a:buFont typeface="Arial" panose="020B0604020202020204" pitchFamily="34" charset="0"/>
              <a:buNone/>
            </a:pPr>
            <a:r>
              <a:rPr lang="en-US"/>
              <a:t>The walkthrough helps attendees visualize applying similar tooling in their own environments effectively.</a:t>
            </a:r>
          </a:p>
        </p:txBody>
      </p:sp>
      <p:sp>
        <p:nvSpPr>
          <p:cNvPr id="7" name="Slide Number Placeholder 6">
            <a:extLst>
              <a:ext uri="{FF2B5EF4-FFF2-40B4-BE49-F238E27FC236}">
                <a16:creationId xmlns:a16="http://schemas.microsoft.com/office/drawing/2014/main" id="{160A47ED-37E1-6F80-4C3B-3ABD45ACB3C4}"/>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4096830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E7E1-825D-E19E-B7E7-9E0BC17577FF}"/>
              </a:ext>
            </a:extLst>
          </p:cNvPr>
          <p:cNvSpPr>
            <a:spLocks noGrp="1"/>
          </p:cNvSpPr>
          <p:nvPr>
            <p:ph type="title"/>
          </p:nvPr>
        </p:nvSpPr>
        <p:spPr>
          <a:xfrm>
            <a:off x="381001" y="685801"/>
            <a:ext cx="6857999" cy="914400"/>
          </a:xfrm>
        </p:spPr>
        <p:txBody>
          <a:bodyPr anchor="t">
            <a:normAutofit/>
          </a:bodyPr>
          <a:lstStyle/>
          <a:p>
            <a:r>
              <a:rPr lang="en-US"/>
              <a:t>Key Takeaways for Attendees</a:t>
            </a:r>
          </a:p>
        </p:txBody>
      </p:sp>
      <p:sp>
        <p:nvSpPr>
          <p:cNvPr id="4" name="Content Placeholder 3">
            <a:extLst>
              <a:ext uri="{FF2B5EF4-FFF2-40B4-BE49-F238E27FC236}">
                <a16:creationId xmlns:a16="http://schemas.microsoft.com/office/drawing/2014/main" id="{1FDD9ACD-1EEF-1D57-5FA1-41C0A5579C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 y="1760954"/>
            <a:ext cx="6858000" cy="4411245"/>
          </a:xfrm>
        </p:spPr>
        <p:txBody>
          <a:bodyPr>
            <a:normAutofit/>
          </a:bodyPr>
          <a:lstStyle/>
          <a:p>
            <a:pPr marL="0" lvl="0" indent="0">
              <a:spcBef>
                <a:spcPts val="2500"/>
              </a:spcBef>
              <a:buFont typeface="Arial" panose="020B0604020202020204" pitchFamily="34" charset="0"/>
              <a:buNone/>
            </a:pPr>
            <a:r>
              <a:rPr lang="en-US" b="1"/>
              <a:t>Migration Planning and Execution</a:t>
            </a:r>
          </a:p>
          <a:p>
            <a:pPr marL="0" lvl="1" indent="0">
              <a:buFont typeface="Arial" panose="020B0604020202020204" pitchFamily="34" charset="0"/>
              <a:buNone/>
            </a:pPr>
            <a:r>
              <a:rPr lang="en-US"/>
              <a:t>Attendees learn to plan and execute SCM to GitHub migration including source code and defects effectively.</a:t>
            </a:r>
          </a:p>
          <a:p>
            <a:pPr marL="0" lvl="0" indent="0">
              <a:spcBef>
                <a:spcPts val="2500"/>
              </a:spcBef>
              <a:buFont typeface="Arial" panose="020B0604020202020204" pitchFamily="34" charset="0"/>
              <a:buNone/>
            </a:pPr>
            <a:r>
              <a:rPr lang="en-US" b="1"/>
              <a:t>Preserving Code Integrity</a:t>
            </a:r>
          </a:p>
          <a:p>
            <a:pPr marL="0" lvl="1" indent="0">
              <a:buFont typeface="Arial" panose="020B0604020202020204" pitchFamily="34" charset="0"/>
              <a:buNone/>
            </a:pPr>
            <a:r>
              <a:rPr lang="en-US"/>
              <a:t>Techniques cover preserving authorship, timestamps, releases, branches, and traceability during migration.</a:t>
            </a:r>
          </a:p>
          <a:p>
            <a:pPr marL="0" lvl="0" indent="0">
              <a:spcBef>
                <a:spcPts val="2500"/>
              </a:spcBef>
              <a:buFont typeface="Arial" panose="020B0604020202020204" pitchFamily="34" charset="0"/>
              <a:buNone/>
            </a:pPr>
            <a:r>
              <a:rPr lang="en-US" b="1"/>
              <a:t>Automation and Validation</a:t>
            </a:r>
          </a:p>
          <a:p>
            <a:pPr marL="0" lvl="1" indent="0">
              <a:buFont typeface="Arial" panose="020B0604020202020204" pitchFamily="34" charset="0"/>
              <a:buNone/>
            </a:pPr>
            <a:r>
              <a:rPr lang="en-US"/>
              <a:t>Automation enables repeatability and validation ensures accuracy in the migration process.</a:t>
            </a:r>
          </a:p>
          <a:p>
            <a:pPr marL="0" lvl="0" indent="0">
              <a:spcBef>
                <a:spcPts val="2500"/>
              </a:spcBef>
              <a:buFont typeface="Arial" panose="020B0604020202020204" pitchFamily="34" charset="0"/>
              <a:buNone/>
            </a:pPr>
            <a:r>
              <a:rPr lang="en-US" b="1"/>
              <a:t>Transition to Git Collaboration</a:t>
            </a:r>
          </a:p>
          <a:p>
            <a:pPr marL="0" lvl="1" indent="0">
              <a:buFont typeface="Arial" panose="020B0604020202020204" pitchFamily="34" charset="0"/>
              <a:buNone/>
            </a:pPr>
            <a:r>
              <a:rPr lang="en-US"/>
              <a:t>Insight into moving from centralized SCM to modern Git collaboration models enhancing developer experience.</a:t>
            </a:r>
          </a:p>
        </p:txBody>
      </p:sp>
      <p:pic>
        <p:nvPicPr>
          <p:cNvPr id="8" name="Content Placeholder 7"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C9F3DC1D-B0B9-4BB9-8AFC-4608ACFD663D}"/>
              </a:ext>
            </a:extLst>
          </p:cNvPr>
          <p:cNvPicPr>
            <a:picLocks noGrp="1" noChangeAspect="1"/>
          </p:cNvPicPr>
          <p:nvPr>
            <p:ph type="pic" sz="quarter" idx="15"/>
          </p:nvPr>
        </p:nvPicPr>
        <p:blipFill>
          <a:blip r:embed="rId3"/>
          <a:srcRect l="34580" r="28122" b="-1"/>
          <a:stretch>
            <a:fillRect/>
          </a:stretch>
        </p:blipFill>
        <p:spPr>
          <a:xfrm>
            <a:off x="8382000" y="152400"/>
            <a:ext cx="3657600" cy="6545835"/>
          </a:xfrm>
        </p:spPr>
      </p:pic>
      <p:sp>
        <p:nvSpPr>
          <p:cNvPr id="7" name="Slide Number Placeholder 6">
            <a:extLst>
              <a:ext uri="{FF2B5EF4-FFF2-40B4-BE49-F238E27FC236}">
                <a16:creationId xmlns:a16="http://schemas.microsoft.com/office/drawing/2014/main" id="{4A2C6A2A-CFDD-76AF-3369-4F2AEEC3A1A7}"/>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Tree>
    <p:extLst>
      <p:ext uri="{BB962C8B-B14F-4D97-AF65-F5344CB8AC3E}">
        <p14:creationId xmlns:p14="http://schemas.microsoft.com/office/powerpoint/2010/main" val="1153371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1A048-2D36-B1DF-48AC-9E16D385C31B}"/>
              </a:ext>
            </a:extLst>
          </p:cNvPr>
          <p:cNvSpPr>
            <a:spLocks noGrp="1"/>
          </p:cNvSpPr>
          <p:nvPr>
            <p:ph type="title"/>
          </p:nvPr>
        </p:nvSpPr>
        <p:spPr>
          <a:xfrm>
            <a:off x="4953001" y="685801"/>
            <a:ext cx="6857999" cy="914400"/>
          </a:xfrm>
        </p:spPr>
        <p:txBody>
          <a:bodyPr anchor="t">
            <a:normAutofit/>
          </a:bodyPr>
          <a:lstStyle/>
          <a:p>
            <a:r>
              <a:rPr lang="en-US" dirty="0"/>
              <a:t>Conclusion</a:t>
            </a:r>
          </a:p>
        </p:txBody>
      </p:sp>
      <p:pic>
        <p:nvPicPr>
          <p:cNvPr id="8" name="Content Placeholder 7" descr="Four hands (female and male) against blue sky playing cats cradle with red wool.">
            <a:extLst>
              <a:ext uri="{FF2B5EF4-FFF2-40B4-BE49-F238E27FC236}">
                <a16:creationId xmlns:a16="http://schemas.microsoft.com/office/drawing/2014/main" id="{7F844C82-ABD8-4DF6-A4AF-EB8C6E889D4B}"/>
              </a:ext>
            </a:extLst>
          </p:cNvPr>
          <p:cNvPicPr>
            <a:picLocks noGrp="1" noChangeAspect="1"/>
          </p:cNvPicPr>
          <p:nvPr>
            <p:ph type="pic" sz="quarter" idx="15"/>
          </p:nvPr>
        </p:nvPicPr>
        <p:blipFill>
          <a:blip r:embed="rId3"/>
          <a:srcRect l="1088" r="15204" b="3"/>
          <a:stretch>
            <a:fillRect/>
          </a:stretch>
        </p:blipFill>
        <p:spPr>
          <a:xfrm>
            <a:off x="152400" y="159765"/>
            <a:ext cx="3657600" cy="6545835"/>
          </a:xfrm>
        </p:spPr>
      </p:pic>
      <p:sp>
        <p:nvSpPr>
          <p:cNvPr id="4" name="Content Placeholder 3">
            <a:extLst>
              <a:ext uri="{FF2B5EF4-FFF2-40B4-BE49-F238E27FC236}">
                <a16:creationId xmlns:a16="http://schemas.microsoft.com/office/drawing/2014/main" id="{B0179062-55BD-74AF-0D68-580E02430F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53000" y="1760954"/>
            <a:ext cx="6858000" cy="4411245"/>
          </a:xfrm>
        </p:spPr>
        <p:txBody>
          <a:bodyPr>
            <a:normAutofit/>
          </a:bodyPr>
          <a:lstStyle/>
          <a:p>
            <a:pPr marL="0" lvl="0" indent="0">
              <a:spcBef>
                <a:spcPts val="2500"/>
              </a:spcBef>
              <a:buFont typeface="Arial" panose="020B0604020202020204" pitchFamily="34" charset="0"/>
              <a:buNone/>
            </a:pPr>
            <a:r>
              <a:rPr lang="en-US" b="1" dirty="0"/>
              <a:t>Modernizing Workflows</a:t>
            </a:r>
          </a:p>
          <a:p>
            <a:pPr marL="0" lvl="1" indent="0">
              <a:buFont typeface="Arial" panose="020B0604020202020204" pitchFamily="34" charset="0"/>
              <a:buNone/>
            </a:pPr>
            <a:r>
              <a:rPr lang="en-US" dirty="0"/>
              <a:t>Organizations can update development workflows while retaining crucial engineering knowledge and history.</a:t>
            </a:r>
          </a:p>
          <a:p>
            <a:pPr marL="0" lvl="0" indent="0">
              <a:spcBef>
                <a:spcPts val="2500"/>
              </a:spcBef>
              <a:buFont typeface="Arial" panose="020B0604020202020204" pitchFamily="34" charset="0"/>
              <a:buNone/>
            </a:pPr>
            <a:r>
              <a:rPr lang="en-US" b="1" dirty="0"/>
              <a:t>Disciplined Migration</a:t>
            </a:r>
          </a:p>
          <a:p>
            <a:pPr marL="0" lvl="1" indent="0">
              <a:buFont typeface="Arial" panose="020B0604020202020204" pitchFamily="34" charset="0"/>
              <a:buNone/>
            </a:pPr>
            <a:r>
              <a:rPr lang="en-US" dirty="0"/>
              <a:t>Treat migration as a strategic transformation that integrates collaboration and automation effectively.</a:t>
            </a:r>
          </a:p>
        </p:txBody>
      </p:sp>
      <p:sp>
        <p:nvSpPr>
          <p:cNvPr id="7" name="Slide Number Placeholder 6">
            <a:extLst>
              <a:ext uri="{FF2B5EF4-FFF2-40B4-BE49-F238E27FC236}">
                <a16:creationId xmlns:a16="http://schemas.microsoft.com/office/drawing/2014/main" id="{85DCD05C-8B88-0EC5-2B47-188DF53D919C}"/>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Tree>
    <p:extLst>
      <p:ext uri="{BB962C8B-B14F-4D97-AF65-F5344CB8AC3E}">
        <p14:creationId xmlns:p14="http://schemas.microsoft.com/office/powerpoint/2010/main" val="2162860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53785-1E84-2CBA-1056-6D556F89983F}"/>
              </a:ext>
            </a:extLst>
          </p:cNvPr>
          <p:cNvSpPr>
            <a:spLocks noGrp="1"/>
          </p:cNvSpPr>
          <p:nvPr>
            <p:ph type="ctrTitle"/>
          </p:nvPr>
        </p:nvSpPr>
        <p:spPr>
          <a:xfrm>
            <a:off x="609600" y="1215884"/>
            <a:ext cx="10972800" cy="2379013"/>
          </a:xfrm>
        </p:spPr>
        <p:txBody>
          <a:bodyPr anchor="b">
            <a:normAutofit/>
          </a:bodyPr>
          <a:lstStyle/>
          <a:p>
            <a:r>
              <a:rPr lang="en-US" dirty="0"/>
              <a:t>THANK YOU</a:t>
            </a:r>
          </a:p>
        </p:txBody>
      </p:sp>
      <p:sp>
        <p:nvSpPr>
          <p:cNvPr id="14" name="Footer Placeholder 3">
            <a:extLst>
              <a:ext uri="{FF2B5EF4-FFF2-40B4-BE49-F238E27FC236}">
                <a16:creationId xmlns:a16="http://schemas.microsoft.com/office/drawing/2014/main" id="{CA18C564-F038-B142-B62C-600E5F8C3DE9}"/>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16" name="Date Placeholder 4">
            <a:extLst>
              <a:ext uri="{FF2B5EF4-FFF2-40B4-BE49-F238E27FC236}">
                <a16:creationId xmlns:a16="http://schemas.microsoft.com/office/drawing/2014/main" id="{2A62C5DD-CB6E-BB36-7764-E1B608EF6C4D}"/>
              </a:ext>
            </a:extLst>
          </p:cNvPr>
          <p:cNvSpPr>
            <a:spLocks noGrp="1"/>
          </p:cNvSpPr>
          <p:nvPr>
            <p:ph type="dt" sz="half" idx="10"/>
          </p:nvPr>
        </p:nvSpPr>
        <p:spPr>
          <a:xfrm>
            <a:off x="9525000" y="6340475"/>
            <a:ext cx="1800171" cy="365125"/>
          </a:xfrm>
        </p:spPr>
        <p:txBody>
          <a:bodyPr anchor="ctr">
            <a:normAutofit/>
          </a:bodyPr>
          <a:lstStyle/>
          <a:p>
            <a:pPr>
              <a:spcAft>
                <a:spcPts val="600"/>
              </a:spcAft>
            </a:pPr>
            <a:fld id="{48F1EE65-9B75-D34D-9F02-D2E3965E0F0C}" type="datetime1">
              <a:rPr lang="en-US" smtClean="0"/>
              <a:pPr>
                <a:spcAft>
                  <a:spcPts val="600"/>
                </a:spcAft>
              </a:pPr>
              <a:t>6/26/2026</a:t>
            </a:fld>
            <a:endParaRPr lang="en-US"/>
          </a:p>
        </p:txBody>
      </p:sp>
      <p:sp>
        <p:nvSpPr>
          <p:cNvPr id="7" name="Slide Number Placeholder 6">
            <a:extLst>
              <a:ext uri="{FF2B5EF4-FFF2-40B4-BE49-F238E27FC236}">
                <a16:creationId xmlns:a16="http://schemas.microsoft.com/office/drawing/2014/main" id="{37374F64-DC3A-06C8-4373-7514921D2C7D}"/>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4222079308"/>
      </p:ext>
    </p:extLst>
  </p:cSld>
  <p:clrMapOvr>
    <a:masterClrMapping/>
  </p:clrMapOvr>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1971</Words>
  <Application>Microsoft Office PowerPoint</Application>
  <PresentationFormat>Widescreen</PresentationFormat>
  <Paragraphs>118</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Avenir Next LT Pro Light</vt:lpstr>
      <vt:lpstr>Biome</vt:lpstr>
      <vt:lpstr>Calibri</vt:lpstr>
      <vt:lpstr>Bubbleform</vt:lpstr>
      <vt:lpstr>Migrating Legacy SCM and Defects to GitHub</vt:lpstr>
      <vt:lpstr>Why This Migration Matters</vt:lpstr>
      <vt:lpstr>Migration Scope: Beyond Source Code</vt:lpstr>
      <vt:lpstr>Target Migration Architecture</vt:lpstr>
      <vt:lpstr>Preserving Source History as Git Commits</vt:lpstr>
      <vt:lpstr>Migrating Defects to GitHub Issues</vt:lpstr>
      <vt:lpstr>Automation Strategy for Migration</vt:lpstr>
      <vt:lpstr>Validation Checklist and Quality Assurance</vt:lpstr>
      <vt:lpstr>Live Demonstration Flow</vt:lpstr>
      <vt:lpstr>Key Takeaways for Attendees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srutjay1@in.ibm.com</dc:creator>
  <cp:lastModifiedBy>Shruthi .</cp:lastModifiedBy>
  <cp:revision>4</cp:revision>
  <dcterms:modified xsi:type="dcterms:W3CDTF">2026-06-26T11:44:32Z</dcterms:modified>
</cp:coreProperties>
</file>